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Trucks</c:v>
                </c:pt>
              </c:strCache>
            </c:strRef>
          </c:tx>
          <c:spPr>
            <a:solidFill>
              <a:srgbClr val="C845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45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45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ADA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ADA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98E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7ADA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Riyadh–Jeddah</c:v>
                  </c:pt>
                  <c:pt idx="1">
                    <c:v>Other long-haul</c:v>
                  </c:pt>
                  <c:pt idx="2">
                    <c:v>Dammam–Riyadh</c:v>
                  </c:pt>
                  <c:pt idx="3">
                    <c:v>Riyadh–Qassim</c:v>
                  </c:pt>
                  <c:pt idx="4">
                    <c:v>Dammam–Jubail</c:v>
                  </c:pt>
                  <c:pt idx="5">
                    <c:v>Jeddah–Makkah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22167</c:v>
                </c:pt>
                <c:pt idx="1">
                  <c:v>19500</c:v>
                </c:pt>
                <c:pt idx="2">
                  <c:v>12000</c:v>
                </c:pt>
                <c:pt idx="3">
                  <c:v>4400</c:v>
                </c:pt>
                <c:pt idx="4">
                  <c:v>1000</c:v>
                </c:pt>
                <c:pt idx="5">
                  <c:v>667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2E2E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565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Trucks</c:v>
                </c:pt>
              </c:strCache>
            </c:strRef>
          </c:tx>
          <c:spPr>
            <a:solidFill>
              <a:srgbClr val="191C1A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
$102.5M</c:v>
                  </c:pt>
                  <c:pt idx="1">
                    <c:v>Year 2
$145.0M</c:v>
                  </c:pt>
                  <c:pt idx="2">
                    <c:v>Year 3
$215.0M</c:v>
                  </c:pt>
                  <c:pt idx="3">
                    <c:v>Year 4
$210.0M</c:v>
                  </c:pt>
                  <c:pt idx="4">
                    <c:v>Year 5
$215.0M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87.5</c:v>
                </c:pt>
                <c:pt idx="1">
                  <c:v>125</c:v>
                </c:pt>
                <c:pt idx="2">
                  <c:v>175</c:v>
                </c:pt>
                <c:pt idx="3">
                  <c:v>150</c:v>
                </c:pt>
                <c:pt idx="4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Hubs</c:v>
                </c:pt>
              </c:strCache>
            </c:strRef>
          </c:tx>
          <c:spPr>
            <a:solidFill>
              <a:srgbClr val="498E2B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
$102.5M</c:v>
                  </c:pt>
                  <c:pt idx="1">
                    <c:v>Year 2
$145.0M</c:v>
                  </c:pt>
                  <c:pt idx="2">
                    <c:v>Year 3
$215.0M</c:v>
                  </c:pt>
                  <c:pt idx="3">
                    <c:v>Year 4
$210.0M</c:v>
                  </c:pt>
                  <c:pt idx="4">
                    <c:v>Year 5
$215.0M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65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05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$120M ask</c:v>
                </c:pt>
              </c:strCache>
            </c:strRef>
          </c:tx>
          <c:spPr>
            <a:solidFill>
              <a:srgbClr val="C8453B"/>
            </a:solidFill>
            <a:ln w="25400" cap="flat">
              <a:solidFill>
                <a:srgbClr val="C8453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453B"/>
              </a:solidFill>
              <a:ln w="9525" cap="flat">
                <a:solidFill>
                  <a:srgbClr val="C845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Year 1
$102.5M</c:v>
                  </c:pt>
                  <c:pt idx="1">
                    <c:v>Year 2
$145.0M</c:v>
                  </c:pt>
                  <c:pt idx="2">
                    <c:v>Year 3
$215.0M</c:v>
                  </c:pt>
                  <c:pt idx="3">
                    <c:v>Year 4
$210.0M</c:v>
                  </c:pt>
                  <c:pt idx="4">
                    <c:v>Year 5
$215.0M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120</c:v>
                </c:pt>
                <c:pt idx="1">
                  <c:v>120</c:v>
                </c:pt>
                <c:pt idx="2">
                  <c:v>120</c:v>
                </c:pt>
                <c:pt idx="3">
                  <c:v>120</c:v>
                </c:pt>
                <c:pt idx="4">
                  <c:v>120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2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6565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65656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A7ADA3"/>
            </a:solidFill>
            <a:effectLst/>
          </c:spPr>
          <c:invertIfNegative val="0"/>
          <c:dLbls>
            <c:numFmt formatCode="&quot;$&quot;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AD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1C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ADA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$4M</c:v>
                  </c:pt>
                  <c:pt idx="1">
                    <c:v>$5M</c:v>
                  </c:pt>
                  <c:pt idx="2">
                    <c:v>$6M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847.5</c:v>
                </c:pt>
                <c:pt idx="1">
                  <c:v>887.5</c:v>
                </c:pt>
                <c:pt idx="2">
                  <c:v>927.5</c:v>
                </c:pt>
              </c:numCache>
            </c:numRef>
          </c:val>
        </c:ser>
        <c:dLbls>
          <c:numFmt formatCode="&quot;$&quot;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2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6565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Trucks</c:v>
                </c:pt>
              </c:strCache>
            </c:strRef>
          </c:tx>
          <c:spPr>
            <a:solidFill>
              <a:srgbClr val="191C1A"/>
            </a:solidFill>
            <a:ln w="31750" cap="flat">
              <a:solidFill>
                <a:srgbClr val="191C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91C1A"/>
              </a:solidFill>
              <a:ln w="9525" cap="flat">
                <a:solidFill>
                  <a:srgbClr val="191C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Today</c:v>
                  </c:pt>
                  <c:pt idx="1">
                    <c:v>Y1</c:v>
                  </c:pt>
                  <c:pt idx="2">
                    <c:v>Y2</c:v>
                  </c:pt>
                  <c:pt idx="3">
                    <c:v>Y3</c:v>
                  </c:pt>
                  <c:pt idx="4">
                    <c:v>Y4</c:v>
                  </c:pt>
                  <c:pt idx="5">
                    <c:v>Y5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850</c:v>
                </c:pt>
                <c:pt idx="1">
                  <c:v>1200</c:v>
                </c:pt>
                <c:pt idx="2">
                  <c:v>1700</c:v>
                </c:pt>
                <c:pt idx="3">
                  <c:v>2400</c:v>
                </c:pt>
                <c:pt idx="4">
                  <c:v>3000</c:v>
                </c:pt>
                <c:pt idx="5">
                  <c:v>3600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2B2B2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2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6565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3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Hubs</c:v>
                </c:pt>
              </c:strCache>
            </c:strRef>
          </c:tx>
          <c:spPr>
            <a:solidFill>
              <a:srgbClr val="A7AD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AD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AD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ADA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ADA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98E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98E2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Today</c:v>
                  </c:pt>
                  <c:pt idx="1">
                    <c:v>Y1</c:v>
                  </c:pt>
                  <c:pt idx="2">
                    <c:v>Y2</c:v>
                  </c:pt>
                  <c:pt idx="3">
                    <c:v>Y3</c:v>
                  </c:pt>
                  <c:pt idx="4">
                    <c:v>Y4</c:v>
                  </c:pt>
                  <c:pt idx="5">
                    <c:v>Y5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8</c:v>
                </c:pt>
                <c:pt idx="2">
                  <c:v>12</c:v>
                </c:pt>
                <c:pt idx="3">
                  <c:v>20</c:v>
                </c:pt>
                <c:pt idx="4">
                  <c:v>32</c:v>
                </c:pt>
                <c:pt idx="5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2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6565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Multiple</c:v>
                </c:pt>
              </c:strCache>
            </c:strRef>
          </c:tx>
          <c:spPr>
            <a:solidFill>
              <a:srgbClr val="A7ADA3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AD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45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98E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Changlu</c:v>
                  </c:pt>
                  <c:pt idx="1">
                    <c:v>Local-risk cut</c:v>
                  </c:pt>
                  <c:pt idx="2">
                    <c:v>Rakiza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0.5</c:v>
                </c:pt>
                <c:pt idx="2">
                  <c:v>2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565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498E2B"/>
            </a:solidFill>
            <a:effectLst/>
          </c:spPr>
          <c:invertIfNegative val="0"/>
          <c:dLbls>
            <c:numFmt formatCode="&quot;$&quot;0.0&quot;M&quot;" sourceLinked="0"/>
            <c:txPr>
              <a:bodyPr/>
              <a:lstStyle/>
              <a:p>
                <a:pPr>
                  <a:defRPr b="1" i="0" strike="noStrike" sz="115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98E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AD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ADA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ADA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7ADA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91C1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Today</c:v>
                  </c:pt>
                  <c:pt idx="1">
                    <c:v>End Y1</c:v>
                  </c:pt>
                  <c:pt idx="2">
                    <c:v>End Y2</c:v>
                  </c:pt>
                  <c:pt idx="3">
                    <c:v>End Y3</c:v>
                  </c:pt>
                  <c:pt idx="4">
                    <c:v>End Y4</c:v>
                  </c:pt>
                  <c:pt idx="5">
                    <c:v>End Y5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409.7</c:v>
                </c:pt>
                <c:pt idx="1">
                  <c:v>458.8</c:v>
                </c:pt>
                <c:pt idx="2">
                  <c:v>513.9</c:v>
                </c:pt>
                <c:pt idx="3">
                  <c:v>575.6</c:v>
                </c:pt>
                <c:pt idx="4">
                  <c:v>644.6</c:v>
                </c:pt>
                <c:pt idx="5">
                  <c:v>722</c:v>
                </c:pt>
              </c:numCache>
            </c:numRef>
          </c:val>
        </c:ser>
        <c:dLbls>
          <c:numFmt formatCode="&quot;$&quot;0.0&quot;M&quot;" sourceLinked="0"/>
          <c:txPr>
            <a:bodyPr/>
            <a:lstStyle/>
            <a:p>
              <a:pPr>
                <a:defRPr b="1" i="0" strike="noStrike" sz="115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2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6565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Yearly return</c:v>
                </c:pt>
              </c:strCache>
            </c:strRef>
          </c:tx>
          <c:spPr>
            <a:solidFill>
              <a:srgbClr val="C8453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45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AD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98E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Rakiza's ask
20.0% · $480M pre</c:v>
                  </c:pt>
                  <c:pt idx="1">
                    <c:v>Our floor
22.6% · $410M pre</c:v>
                  </c:pt>
                  <c:pt idx="2">
                    <c:v>Our opening
29.3% · $410M post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3.8</c:v>
                </c:pt>
                <c:pt idx="1">
                  <c:v>6.4</c:v>
                </c:pt>
                <c:pt idx="2">
                  <c:v>12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Qafila's 12% hurdle</c:v>
                </c:pt>
              </c:strCache>
            </c:strRef>
          </c:tx>
          <c:spPr>
            <a:solidFill>
              <a:srgbClr val="191C1A"/>
            </a:solidFill>
            <a:ln w="25400" cap="flat">
              <a:solidFill>
                <a:srgbClr val="191C1A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91C1A"/>
              </a:solidFill>
              <a:ln w="9525" cap="flat">
                <a:solidFill>
                  <a:srgbClr val="191C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Rakiza's ask
20.0% · $480M pre</c:v>
                  </c:pt>
                  <c:pt idx="1">
                    <c:v>Our floor
22.6% · $410M pre</c:v>
                  </c:pt>
                  <c:pt idx="2">
                    <c:v>Our opening
29.3% · $410M post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12</c:v>
                </c:pt>
                <c:pt idx="2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565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hub use</c:v>
                </c:pt>
              </c:strCache>
            </c:strRef>
          </c:tx>
          <c:spPr>
            <a:solidFill>
              <a:srgbClr val="498E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98E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98E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98E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453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453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Jeddah–Makkah</c:v>
                  </c:pt>
                  <c:pt idx="1">
                    <c:v>Riyadh–Qassim</c:v>
                  </c:pt>
                  <c:pt idx="2">
                    <c:v>Riyadh–Jeddah</c:v>
                  </c:pt>
                  <c:pt idx="3">
                    <c:v>Dammam–Jubail</c:v>
                  </c:pt>
                  <c:pt idx="4">
                    <c:v>Dammam–Riyadh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85.9</c:v>
                </c:pt>
                <c:pt idx="1">
                  <c:v>78.6</c:v>
                </c:pt>
                <c:pt idx="2">
                  <c:v>70</c:v>
                </c:pt>
                <c:pt idx="3">
                  <c:v>56.4</c:v>
                </c:pt>
                <c:pt idx="4">
                  <c:v>41.3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Break-even 60%</c:v>
                </c:pt>
              </c:strCache>
            </c:strRef>
          </c:tx>
          <c:spPr>
            <a:solidFill>
              <a:srgbClr val="191C1A"/>
            </a:solidFill>
            <a:ln w="25400" cap="flat">
              <a:solidFill>
                <a:srgbClr val="191C1A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91C1A"/>
              </a:solidFill>
              <a:ln w="9525" cap="flat">
                <a:solidFill>
                  <a:srgbClr val="191C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Jeddah–Makkah</c:v>
                  </c:pt>
                  <c:pt idx="1">
                    <c:v>Riyadh–Qassim</c:v>
                  </c:pt>
                  <c:pt idx="2">
                    <c:v>Riyadh–Jeddah</c:v>
                  </c:pt>
                  <c:pt idx="3">
                    <c:v>Dammam–Jubail</c:v>
                  </c:pt>
                  <c:pt idx="4">
                    <c:v>Dammam–Riyadh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</c:v>
                </c:pt>
                <c:pt idx="1">
                  <c:v>60</c:v>
                </c:pt>
                <c:pt idx="2">
                  <c:v>60</c:v>
                </c:pt>
                <c:pt idx="3">
                  <c:v>60</c:v>
                </c:pt>
                <c:pt idx="4">
                  <c:v>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2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6565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65656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27648"/>
            <a:ext cx="11091672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00584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5DA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chart" Target="../charts/chart8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ARAMCO CONSULTING CASE CHAMPIONSHIP 2026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Round 1 · Recommendation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Charging the Long Haul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Should Qafila invest in Rakiza Freight, and on what terms? Recommendation to Qafila Mobility Group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4846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Team ID: CC-####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6035040"/>
            <a:ext cx="1051560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9509760" y="6126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Invest $120M in Rakiza in two stages, at $410M, not $480M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A big market and a credible plan, but the price is too high and the plan needs far more money than the ask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15184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783080"/>
            <a:ext cx="2615184" cy="41148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20574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412" y="2149572"/>
            <a:ext cx="199705" cy="199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606040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Q1 · MARKET SIZE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8036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~60,000</a:t>
            </a:r>
            <a:endParaRPr lang="en-US" sz="280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trucks, a ~$3.3bn yearly leasing market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97764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Built from 300M tonnes of freight; a corridor build-up lands within 0.4%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663440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p. 3–4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74136" y="1783080"/>
            <a:ext cx="2615184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3374136" y="1783080"/>
            <a:ext cx="2615184" cy="41148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3602736" y="20574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908" y="2149572"/>
            <a:ext cx="199705" cy="199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602736" y="2606040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Q2 · INVESTMENT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3602736" y="288036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$887.5M</a:t>
            </a:r>
            <a:endParaRPr lang="en-US" sz="280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to deliver the five-year plan</a:t>
            </a:r>
            <a:endParaRPr lang="en-US" sz="2800" dirty="0"/>
          </a:p>
        </p:txBody>
      </p:sp>
      <p:sp>
        <p:nvSpPr>
          <p:cNvPr id="19" name="Text 15"/>
          <p:cNvSpPr txBox="1"/>
          <p:nvPr/>
        </p:nvSpPr>
        <p:spPr>
          <a:xfrm>
            <a:off x="3602736" y="397764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The $120M covers 13.5%; trucks are ~77% of the need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3602736" y="4663440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p. 5–6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199632" y="1783080"/>
            <a:ext cx="2615184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6199632" y="1783080"/>
            <a:ext cx="2615184" cy="41148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6428232" y="20574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404" y="2149572"/>
            <a:ext cx="199705" cy="19970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428232" y="2606040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Q3 · WORTH TODAY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6428232" y="288036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$410M</a:t>
            </a:r>
            <a:endParaRPr lang="en-US" sz="2800" dirty="0"/>
          </a:p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today, vs $480M pre-money behind the $600M ask</a:t>
            </a:r>
            <a:endParaRPr lang="en-US" sz="2800" dirty="0"/>
          </a:p>
        </p:txBody>
      </p:sp>
      <p:sp>
        <p:nvSpPr>
          <p:cNvPr id="27" name="Text 22"/>
          <p:cNvSpPr txBox="1"/>
          <p:nvPr/>
        </p:nvSpPr>
        <p:spPr>
          <a:xfrm>
            <a:off x="6428232" y="397764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Year-5 revenue × 2.0x, discounted at 12% a year; $344M once tested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6428232" y="4663440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p. 7–8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9025128" y="1783080"/>
            <a:ext cx="2615184" cy="3246120"/>
          </a:xfrm>
          <a:prstGeom prst="rect">
            <a:avLst/>
          </a:prstGeom>
          <a:solidFill>
            <a:srgbClr val="191C1A"/>
          </a:solidFill>
          <a:ln w="12700">
            <a:solidFill>
              <a:srgbClr val="191C1A"/>
            </a:solidFill>
            <a:prstDash val="solid"/>
          </a:ln>
        </p:spPr>
        <p:txBody>
          <a:bodyPr/>
          <a:p/>
        </p:txBody>
      </p:sp>
      <p:sp>
        <p:nvSpPr>
          <p:cNvPr id="30" name="Shape 25"/>
          <p:cNvSpPr/>
          <p:nvPr/>
        </p:nvSpPr>
        <p:spPr>
          <a:xfrm>
            <a:off x="9025128" y="1783080"/>
            <a:ext cx="2615184" cy="41148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31" name="Shape 26"/>
          <p:cNvSpPr/>
          <p:nvPr/>
        </p:nvSpPr>
        <p:spPr>
          <a:xfrm>
            <a:off x="9253728" y="20574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900" y="2149572"/>
            <a:ext cx="199705" cy="19970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253728" y="2606040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Q4 · DECISION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9253728" y="288036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9CC87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Yes, staged</a:t>
            </a:r>
            <a:endParaRPr lang="en-US" sz="28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$60M now + $60M on proof</a:t>
            </a:r>
            <a:endParaRPr lang="en-US" sz="2800" dirty="0"/>
          </a:p>
        </p:txBody>
      </p:sp>
      <p:sp>
        <p:nvSpPr>
          <p:cNvPr id="35" name="Text 29"/>
          <p:cNvSpPr txBox="1"/>
          <p:nvPr/>
        </p:nvSpPr>
        <p:spPr>
          <a:xfrm>
            <a:off x="9253728" y="397764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CC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29.3% opening stake, 22.6% floor; each condition tied to a risk</a:t>
            </a:r>
            <a:endParaRPr lang="en-US" sz="1150" dirty="0"/>
          </a:p>
        </p:txBody>
      </p:sp>
      <p:sp>
        <p:nvSpPr>
          <p:cNvPr id="36" name="Text 30"/>
          <p:cNvSpPr txBox="1"/>
          <p:nvPr/>
        </p:nvSpPr>
        <p:spPr>
          <a:xfrm>
            <a:off x="9253728" y="4663440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CC87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p. 9–11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548640" y="5349240"/>
            <a:ext cx="11091672" cy="685800"/>
          </a:xfrm>
          <a:prstGeom prst="rect">
            <a:avLst/>
          </a:prstGeom>
          <a:solidFill>
            <a:srgbClr val="EEF4E9"/>
          </a:solidFill>
          <a:ln w="12700">
            <a:solidFill>
              <a:srgbClr val="EEF4E9"/>
            </a:solidFill>
            <a:prstDash val="solid"/>
          </a:ln>
        </p:spPr>
        <p:txBody>
          <a:bodyPr/>
          <a:p/>
        </p:txBody>
      </p:sp>
      <p:sp>
        <p:nvSpPr>
          <p:cNvPr id="38" name="Shape 32"/>
          <p:cNvSpPr/>
          <p:nvPr/>
        </p:nvSpPr>
        <p:spPr>
          <a:xfrm>
            <a:off x="548640" y="5349240"/>
            <a:ext cx="45720" cy="685800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39" name="Text 33"/>
          <p:cNvSpPr txBox="1"/>
          <p:nvPr/>
        </p:nvSpPr>
        <p:spPr>
          <a:xfrm>
            <a:off x="777240" y="5349240"/>
            <a:ext cx="10680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Recommendation: </a:t>
            </a: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invest, but at our value and in stages. Qafila owns part of the shift in how freight is fuelled, and pays for proof, not promises.</a:t>
            </a:r>
            <a:endParaRPr lang="en-US" sz="1250" dirty="0"/>
          </a:p>
        </p:txBody>
      </p:sp>
      <p:sp>
        <p:nvSpPr>
          <p:cNvPr id="40" name="Text 34"/>
          <p:cNvSpPr txBox="1"/>
          <p:nvPr/>
        </p:nvSpPr>
        <p:spPr>
          <a:xfrm>
            <a:off x="548640" y="64008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Source: Case brief Exhibits 1–8; data room tabs; Q&amp;A Sessions 1–3. Detailed working in the Excel file.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  <a:latin typeface="Aptos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Q1 · MARKET SIZE · 1 OF 2</a:t>
            </a:r>
            <a:endParaRPr lang="en-US" sz="10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Saudi long-haul freight needs ~60,000 trucks, a $3.3bn market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Built from the freight that moves: from tonnes to trips, trucks and a year of leasing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08792" y="384048"/>
            <a:ext cx="731520" cy="402336"/>
          </a:xfrm>
          <a:prstGeom prst="roundRect">
            <a:avLst>
              <a:gd name="adj" fmla="val 13636"/>
            </a:avLst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908792" y="3840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Source: Data room, Market notes (freight moved, load, trip length, km per truck, lease price). All trucks needed to move the freight are counted at the case lease rate; Rakiza's ~850 trucks are not subtracted.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22402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1783080"/>
            <a:ext cx="2240280" cy="41148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1965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300M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tonnes of freight moved a year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011680"/>
            <a:ext cx="713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÷ 25 t per load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02152" y="1783080"/>
            <a:ext cx="22402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502152" y="1783080"/>
            <a:ext cx="2240280" cy="41148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730752" y="1965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12M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truck trips a year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742432" y="2011680"/>
            <a:ext cx="713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÷ 200 trips per truck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55664" y="1783080"/>
            <a:ext cx="22402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55664" y="1783080"/>
            <a:ext cx="2240280" cy="41148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684264" y="1965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60,000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heavy trucks needed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695944" y="2011680"/>
            <a:ext cx="713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× $55k lease a year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09176" y="1783080"/>
            <a:ext cx="2240280" cy="1417320"/>
          </a:xfrm>
          <a:prstGeom prst="rect">
            <a:avLst/>
          </a:prstGeom>
          <a:solidFill>
            <a:srgbClr val="191C1A"/>
          </a:solidFill>
          <a:ln w="12700">
            <a:solidFill>
              <a:srgbClr val="191C1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409176" y="1783080"/>
            <a:ext cx="2240280" cy="41148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9637776" y="196596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9CC87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$3.3bn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leasing market a year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520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How we built it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88620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498E2B"/>
              </a:buClr>
              <a:buSzPct val="100000"/>
              <a:buChar char="›"/>
            </a:pPr>
            <a:r>
              <a:rPr lang="en-US" sz="125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Trips: </a:t>
            </a: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300M tonnes ÷ 25 t per load = 12M trips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Clr>
                <a:srgbClr val="498E2B"/>
              </a:buClr>
              <a:buSzPct val="100000"/>
              <a:buChar char="›"/>
            </a:pPr>
            <a:r>
              <a:rPr lang="en-US" sz="125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Trips per truck: </a:t>
            </a: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120,000 km a year ÷ 600 km per trip = 200</a:t>
            </a:r>
            <a:endParaRPr lang="en-US" sz="1250" dirty="0"/>
          </a:p>
          <a:p>
            <a:pPr marL="177800" indent="-177800">
              <a:spcAft>
                <a:spcPts val="600"/>
              </a:spcAft>
              <a:buClr>
                <a:srgbClr val="498E2B"/>
              </a:buClr>
              <a:buSzPct val="100000"/>
              <a:buChar char="›"/>
            </a:pPr>
            <a:r>
              <a:rPr lang="en-US" sz="125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Fleet: </a:t>
            </a: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12M trips ÷ 200 trips per truck = 60,000 trucks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Clr>
                <a:srgbClr val="498E2B"/>
              </a:buClr>
              <a:buSzPct val="100000"/>
              <a:buChar char="›"/>
            </a:pPr>
            <a:r>
              <a:rPr lang="en-US" sz="125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Market: </a:t>
            </a: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60,000 trucks × $55k lease a year = $3.3bn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35204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What the figure covers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37960" y="3886200"/>
            <a:ext cx="24688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537960" y="3886200"/>
            <a:ext cx="2468880" cy="41148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720840" y="406908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6677" y="4134917"/>
            <a:ext cx="142646" cy="142646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7086600" y="4069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720840" y="44805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Clr>
                <a:srgbClr val="498E2B"/>
              </a:buClr>
              <a:buSzPct val="100000"/>
              <a:buChar char="›"/>
            </a:pPr>
            <a:r>
              <a:rPr lang="en-US" sz="11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Yearly lease paid by fleets</a:t>
            </a:r>
            <a:endParaRPr lang="en-US" sz="1150" dirty="0"/>
          </a:p>
          <a:p>
            <a:pPr marL="177800" indent="-177800">
              <a:spcAft>
                <a:spcPts val="300"/>
              </a:spcAft>
              <a:buClr>
                <a:srgbClr val="498E2B"/>
              </a:buClr>
              <a:buSzPct val="100000"/>
              <a:buChar char="›"/>
            </a:pPr>
            <a:r>
              <a:rPr lang="en-US" sz="11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Trucks sized from freight that moves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9144000" y="3886200"/>
            <a:ext cx="24688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144000" y="3886200"/>
            <a:ext cx="2468880" cy="41148"/>
          </a:xfrm>
          <a:prstGeom prst="rect">
            <a:avLst/>
          </a:prstGeom>
          <a:solidFill>
            <a:srgbClr val="A7ADA3"/>
          </a:solidFill>
          <a:ln w="12700">
            <a:solidFill>
              <a:srgbClr val="A7ADA3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9326880" y="4069080"/>
            <a:ext cx="274320" cy="274320"/>
          </a:xfrm>
          <a:prstGeom prst="roundRect">
            <a:avLst>
              <a:gd name="adj" fmla="val 23333"/>
            </a:avLst>
          </a:prstGeom>
          <a:solidFill>
            <a:srgbClr val="A7ADA3"/>
          </a:solidFill>
          <a:ln w="12700">
            <a:solidFill>
              <a:srgbClr val="A7ADA3"/>
            </a:solidFill>
            <a:prstDash val="solid"/>
          </a:ln>
        </p:spPr>
        <p:txBody>
          <a:bodyPr/>
          <a:p/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2717" y="4134917"/>
            <a:ext cx="142646" cy="142646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9692640" y="4069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Excluded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9326880" y="44805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Clr>
                <a:srgbClr val="498E2B"/>
              </a:buClr>
              <a:buSzPct val="100000"/>
              <a:buChar char="›"/>
            </a:pPr>
            <a:r>
              <a:rPr lang="en-US" sz="11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Truck value as assets; charging revenue</a:t>
            </a:r>
            <a:endParaRPr lang="en-US" sz="1150" dirty="0"/>
          </a:p>
          <a:p>
            <a:pPr marL="177800" indent="-177800">
              <a:spcAft>
                <a:spcPts val="300"/>
              </a:spcAft>
              <a:buClr>
                <a:srgbClr val="498E2B"/>
              </a:buClr>
              <a:buSzPct val="100000"/>
              <a:buChar char="›"/>
            </a:pPr>
            <a:r>
              <a:rPr lang="en-US" sz="11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Uplift for empty returns; road traffic counts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548640" y="5596128"/>
            <a:ext cx="11091672" cy="548640"/>
          </a:xfrm>
          <a:prstGeom prst="rect">
            <a:avLst/>
          </a:prstGeom>
          <a:solidFill>
            <a:srgbClr val="EEF4E9"/>
          </a:solidFill>
          <a:ln w="12700">
            <a:solidFill>
              <a:srgbClr val="EEF4E9"/>
            </a:solidFill>
            <a:prstDash val="solid"/>
          </a:ln>
        </p:spPr>
        <p:txBody>
          <a:bodyPr/>
          <a:p/>
        </p:txBody>
      </p:sp>
      <p:sp>
        <p:nvSpPr>
          <p:cNvPr id="39" name="Shape 35"/>
          <p:cNvSpPr/>
          <p:nvPr/>
        </p:nvSpPr>
        <p:spPr>
          <a:xfrm>
            <a:off x="548640" y="5596128"/>
            <a:ext cx="45720" cy="548640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40" name="Text 36"/>
          <p:cNvSpPr txBox="1"/>
          <p:nvPr/>
        </p:nvSpPr>
        <p:spPr>
          <a:xfrm>
            <a:off x="777240" y="5596128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Takeaway: </a:t>
            </a: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Saudi long-haul freight needs about 60,000 heavy trucks, so fleet leasing is worth about $3.3bn a year.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  <a:latin typeface="Aptos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Q1 · MARKET SIZE · 2 OF 2</a:t>
            </a:r>
            <a:endParaRPr lang="en-US" sz="10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A corridor build-up confirms the market within 0.4%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Two long routes with weak grid hold 70% of the trucks, which matters for where hubs go first (Q4)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08792" y="384048"/>
            <a:ext cx="731520" cy="402336"/>
          </a:xfrm>
          <a:prstGeom prst="roundRect">
            <a:avLst>
              <a:gd name="adj" fmla="val 13636"/>
            </a:avLst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908792" y="3840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Source: Data room, Route activity (corridor freight, distance, grid), Market notes, Fleet invoices (20 Rakiza trucks × 12 months; not scaled up). Corridor trucks = (freight ÷ 25 t) ÷ (120,000 km ÷ corridor distance).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373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Heavy trucks needed by corridor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201168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85800" y="5330952"/>
            <a:ext cx="146304" cy="146304"/>
          </a:xfrm>
          <a:prstGeom prst="rect">
            <a:avLst/>
          </a:prstGeom>
          <a:solidFill>
            <a:srgbClr val="C8453B"/>
          </a:solidFill>
          <a:ln w="12700">
            <a:solidFill>
              <a:srgbClr val="C8453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96112" y="52852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Weak grid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86000" y="5330952"/>
            <a:ext cx="146304" cy="146304"/>
          </a:xfrm>
          <a:prstGeom prst="rect">
            <a:avLst/>
          </a:prstGeom>
          <a:solidFill>
            <a:srgbClr val="A7ADA3"/>
          </a:solidFill>
          <a:ln w="12700">
            <a:solidFill>
              <a:srgbClr val="A7ADA3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496312" y="52852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Adequate grid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886200" y="5330952"/>
            <a:ext cx="146304" cy="146304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096512" y="52852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Strong grid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720840" y="1783080"/>
            <a:ext cx="4919472" cy="1234440"/>
          </a:xfrm>
          <a:prstGeom prst="rect">
            <a:avLst/>
          </a:prstGeom>
          <a:solidFill>
            <a:srgbClr val="191C1A"/>
          </a:solidFill>
          <a:ln w="12700">
            <a:solidFill>
              <a:srgbClr val="191C1A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6720840" y="1783080"/>
            <a:ext cx="4919472" cy="41148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949440" y="1938528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CC87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59,733 trucks · $3.29bn</a:t>
            </a:r>
            <a:endParaRPr lang="en-US" sz="22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vs 60,000 with the trip method (−0.4%): the freight-weighted trip is 597 km, not 600 km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720840" y="32004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Headline inputs match the raw data within 0.5%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3520440"/>
          <a:ext cx="49194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1170432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Case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Data room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C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Freight moved, t a year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300M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300M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Average trip, km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597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−0.4%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Km per truck a year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120,000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120,453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+0.4%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Lease per truck a year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$55,000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$54,990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Aptos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150" dirty="0">
                        <a:latin typeface="Aptos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548640" y="5596128"/>
            <a:ext cx="11091672" cy="548640"/>
          </a:xfrm>
          <a:prstGeom prst="rect">
            <a:avLst/>
          </a:prstGeom>
          <a:solidFill>
            <a:srgbClr val="EEF4E9"/>
          </a:solidFill>
          <a:ln w="12700">
            <a:solidFill>
              <a:srgbClr val="EEF4E9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548640" y="5596128"/>
            <a:ext cx="45720" cy="548640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777240" y="5596128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Takeaway: </a:t>
            </a: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both methods and the raw data agree, so the market is about 60,000 trucks and $3.3bn a year.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  <a:latin typeface="Aptos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Q2 · INVESTMENT NEEDED · 1 OF 2</a:t>
            </a:r>
            <a:endParaRPr lang="en-US" sz="10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The five-year plan needs ~$888M, about 7x the $120M ask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The $120M roughly funds Year 1 only; the rest must come from sources the case does not name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08792" y="384048"/>
            <a:ext cx="731520" cy="402336"/>
          </a:xfrm>
          <a:prstGeom prst="roundRect">
            <a:avLst>
              <a:gd name="adj" fmla="val 13636"/>
            </a:avLst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908792" y="3840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Source: Data room, Management plan (year-end trucks and hubs), Market notes ($250k per truck, $4–6M per hub). 40 new hubs: the 5 pilots are already built (Q&amp;A Session 2). Costs held flat; no inflation (Q&amp;A Session 3).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37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Investment by year, $M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2011680"/>
          <a:ext cx="66751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846320" y="17556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C8C8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Year total shown under each bar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52360" y="1783080"/>
            <a:ext cx="4187952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452360" y="1783080"/>
            <a:ext cx="4187952" cy="41148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680960" y="1938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How we built it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228600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Clr>
                <a:srgbClr val="498E2B"/>
              </a:buClr>
              <a:buSzPct val="100000"/>
              <a:buChar char="›"/>
            </a:pPr>
            <a:r>
              <a:rPr lang="en-US" sz="12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Trucks: </a:t>
            </a:r>
            <a:r>
              <a:rPr lang="en-US" sz="120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2,750 new × $250k = $687.5M</a:t>
            </a:r>
            <a:endParaRPr lang="en-US" sz="1200" dirty="0"/>
          </a:p>
          <a:p>
            <a:pPr marL="177800" indent="-177800">
              <a:spcAft>
                <a:spcPts val="500"/>
              </a:spcAft>
              <a:buClr>
                <a:srgbClr val="498E2B"/>
              </a:buClr>
              <a:buSzPct val="100000"/>
              <a:buChar char="›"/>
            </a:pPr>
            <a:r>
              <a:rPr lang="en-US" sz="12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Hubs: </a:t>
            </a:r>
            <a:r>
              <a:rPr lang="en-US" sz="120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40 new × $5M = $200M</a:t>
            </a:r>
            <a:endParaRPr lang="en-US" sz="1200" dirty="0"/>
          </a:p>
          <a:p>
            <a:pPr marL="177800" indent="-177800">
              <a:spcAft>
                <a:spcPts val="500"/>
              </a:spcAft>
              <a:buClr>
                <a:srgbClr val="498E2B"/>
              </a:buClr>
              <a:buSzPct val="100000"/>
              <a:buChar char="›"/>
            </a:pPr>
            <a:r>
              <a:rPr lang="en-US" sz="12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Total: </a:t>
            </a:r>
            <a:r>
              <a:rPr lang="en-US" sz="120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$887.5M ($847.5M–$927.5M at $4–6M a hub)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452360" y="3840480"/>
            <a:ext cx="4187952" cy="1600200"/>
          </a:xfrm>
          <a:prstGeom prst="rect">
            <a:avLst/>
          </a:prstGeom>
          <a:solidFill>
            <a:srgbClr val="191C1A"/>
          </a:solidFill>
          <a:ln w="12700">
            <a:solidFill>
              <a:srgbClr val="191C1A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7452360" y="3840480"/>
            <a:ext cx="4187952" cy="41148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7680960" y="40233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9CC87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of the need is covered by the $120M, leaving a gap of about $767.5M</a:t>
            </a:r>
            <a:endParaRPr lang="en-US" sz="3000" dirty="0"/>
          </a:p>
        </p:txBody>
      </p:sp>
      <p:sp>
        <p:nvSpPr>
          <p:cNvPr id="18" name="Shape 15"/>
          <p:cNvSpPr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solidFill>
            <a:srgbClr val="EEF4E9"/>
          </a:solidFill>
          <a:ln w="12700">
            <a:solidFill>
              <a:srgbClr val="EEF4E9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548640" y="5623560"/>
            <a:ext cx="45720" cy="548640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777240" y="562356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Cross-check: </a:t>
            </a:r>
            <a:r>
              <a:rPr lang="en-US" sz="120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Year-5 assets (3,600 × $250k + 45 × $5M = $1,125M) − today's assets (850 × $250k + 5 × $5M = $237.5M) = $887.5M.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  <a:latin typeface="Aptos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Q2 · INVESTMENT NEEDED · 2 OF 2</a:t>
            </a:r>
            <a:endParaRPr lang="en-US" sz="10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Fleet growth drives the need; hub prices barely move it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Trucks are ~77% of the total, and most hub money is needed late, so it can wait for proof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08792" y="384048"/>
            <a:ext cx="731520" cy="402336"/>
          </a:xfrm>
          <a:prstGeom prst="roundRect">
            <a:avLst>
              <a:gd name="adj" fmla="val 13636"/>
            </a:avLst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908792" y="3840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Source: Data room, Management plan (year-end balances), Market notes (hub cost $4–6M). Truck share = $687.5M ÷ $887.5M.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5204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1783080"/>
            <a:ext cx="3520440" cy="41148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49808" y="193852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Total at $4M / $5M / $6M per hub, $M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4617720"/>
            <a:ext cx="3118104" cy="10973"/>
          </a:xfrm>
          <a:prstGeom prst="rect">
            <a:avLst/>
          </a:prstGeom>
          <a:solidFill>
            <a:srgbClr val="E2E2E2"/>
          </a:solidFill>
          <a:ln w="12700">
            <a:solidFill>
              <a:srgbClr val="E2E2E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49808" y="470916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Hub cost moves the total by only ±$40M (about ±5%)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34256" y="1783080"/>
            <a:ext cx="35204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334256" y="1783080"/>
            <a:ext cx="3520440" cy="41148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535424" y="193852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Electric trucks on lease, year-end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35424" y="4617720"/>
            <a:ext cx="3118104" cy="10973"/>
          </a:xfrm>
          <a:prstGeom prst="rect">
            <a:avLst/>
          </a:prstGeom>
          <a:solidFill>
            <a:srgbClr val="E2E2E2"/>
          </a:solidFill>
          <a:ln w="12700">
            <a:solidFill>
              <a:srgbClr val="E2E2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535424" y="470916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2,750 trucks to buy: ~77% of the $887.5M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19872" y="1783080"/>
            <a:ext cx="35204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119872" y="1783080"/>
            <a:ext cx="3520440" cy="41148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321040" y="193852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Commercial hubs, year-end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4617720"/>
            <a:ext cx="3118104" cy="10973"/>
          </a:xfrm>
          <a:prstGeom prst="rect">
            <a:avLst/>
          </a:prstGeom>
          <a:solidFill>
            <a:srgbClr val="E2E2E2"/>
          </a:solidFill>
          <a:ln w="12700">
            <a:solidFill>
              <a:srgbClr val="E2E2E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321040" y="470916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25 of the 40 new hubs come in Years 4–5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40080" y="2240280"/>
          <a:ext cx="33375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4" name="Chart 1" descr=""/>
          <p:cNvGraphicFramePr/>
          <p:nvPr/>
        </p:nvGraphicFramePr>
        <p:xfrm>
          <a:off x="4425696" y="2240280"/>
          <a:ext cx="33375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5" name="Chart 2" descr=""/>
          <p:cNvGraphicFramePr/>
          <p:nvPr/>
        </p:nvGraphicFramePr>
        <p:xfrm>
          <a:off x="8211312" y="2240280"/>
          <a:ext cx="33375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6" name="Shape 21"/>
          <p:cNvSpPr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solidFill>
            <a:srgbClr val="EEF4E9"/>
          </a:solidFill>
          <a:ln w="12700">
            <a:solidFill>
              <a:srgbClr val="EEF4E9"/>
            </a:solidFill>
            <a:prstDash val="solid"/>
          </a:ln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548640" y="5623560"/>
            <a:ext cx="45720" cy="548640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28" name="Text 23"/>
          <p:cNvSpPr txBox="1"/>
          <p:nvPr/>
        </p:nvSpPr>
        <p:spPr>
          <a:xfrm>
            <a:off x="777240" y="562356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So what for Q4: </a:t>
            </a: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the $120M is the start of a funding journey, so Qafila needs staged cheques, follow-on rights and a financing condition.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  <a:latin typeface="Aptos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Q3 · WORTH TODAY · 1 OF 2</a:t>
            </a:r>
            <a:endParaRPr lang="en-US" sz="10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Priced like its closest peer, Rakiza is worth $722M in Year 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Value = Year-5 revenue × the multiple a similar company sold for, marked down for local risk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08792" y="384048"/>
            <a:ext cx="731520" cy="402336"/>
          </a:xfrm>
          <a:prstGeom prst="roundRect">
            <a:avLst>
              <a:gd name="adj" fmla="val 13636"/>
            </a:avLst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908792" y="3840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Source: Data room, Management plan (Year-5 revenue); Ex. 8 (Changlu deal); Ex. 7 (one-fifth markdown); Market notes. Changlu revenue is "a little over $400M" in Ex. 8 (2.5x) and $410M in Market notes (2.44x); 2.5x used as stated.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66751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020824"/>
            <a:ext cx="329184" cy="329184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49808" y="2020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189280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Year-5 revenue in the plan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Leasing $198M + charging $163M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89280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$361M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2715768"/>
            <a:ext cx="66751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49808" y="2953512"/>
            <a:ext cx="329184" cy="329184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49808" y="2953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282549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What a similar company sold for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Changlu: $250M ÷ 25% = $1,000M; ÷ $400M revenue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2825496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2.5x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48640" y="3648456"/>
            <a:ext cx="66751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49808" y="3886200"/>
            <a:ext cx="329184" cy="329184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49808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375818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Mark it down for local risk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2.5 × (1 − 20%); applied to the multiple, never to the $120M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758184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2.0x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48640" y="4581144"/>
            <a:ext cx="6675120" cy="804672"/>
          </a:xfrm>
          <a:prstGeom prst="rect">
            <a:avLst/>
          </a:prstGeom>
          <a:solidFill>
            <a:srgbClr val="191C1A"/>
          </a:solidFill>
          <a:ln w="12700">
            <a:solidFill>
              <a:srgbClr val="191C1A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49808" y="4818888"/>
            <a:ext cx="329184" cy="329184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49808" y="4818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61872" y="469087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Year-5 value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9CCC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$361M × 2.0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4690872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CC87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$722M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1737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What the local-risk cut does to the multiple</a:t>
            </a:r>
            <a:endParaRPr lang="en-US" sz="12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7498080" y="2011680"/>
          <a:ext cx="42062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7589520" y="4251960"/>
            <a:ext cx="4050792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7589520" y="4251960"/>
            <a:ext cx="4050792" cy="41148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7772400" y="43434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Why only Changlu? </a:t>
            </a:r>
            <a:r>
              <a:rPr lang="en-US" sz="110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It is the only peer that, like Rakiza, leases electric trucks and runs charging, at a similar size. Left out: Handa (charging only), Vardhan (mostly diesel), Meridian (diversified logistics), Solvia (electric vans).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48640" y="5715000"/>
            <a:ext cx="11091672" cy="475488"/>
          </a:xfrm>
          <a:prstGeom prst="rect">
            <a:avLst/>
          </a:prstGeom>
          <a:solidFill>
            <a:srgbClr val="EEF4E9"/>
          </a:solidFill>
          <a:ln w="12700">
            <a:solidFill>
              <a:srgbClr val="EEF4E9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548640" y="5715000"/>
            <a:ext cx="45720" cy="475488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777240" y="5715000"/>
            <a:ext cx="10680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Committee concern A (Ex. 7): </a:t>
            </a:r>
            <a:r>
              <a:rPr lang="en-US" sz="120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offshore benchmarks are marked down by about a fifth, not copied unchanged.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  <a:latin typeface="Aptos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Q3 · WORTH TODAY · 2 OF 2</a:t>
            </a:r>
            <a:endParaRPr lang="en-US" sz="10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Brought back at 12% a year, that is worth ~$410M today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Qafila's money must earn 12% a year, so each year back we divide by 1.12, five times (1.12⁵ = 1.762)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08792" y="384048"/>
            <a:ext cx="731520" cy="402336"/>
          </a:xfrm>
          <a:prstGeom prst="roundRect">
            <a:avLst>
              <a:gd name="adj" fmla="val 13636"/>
            </a:avLst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908792" y="3840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Source: Ex. 7 (12% cost of capital); Q&amp;A Sessions 2–3 (discount over the full period; pre/post-money; Q3 assumes funding is raised); Data room, Hub monthly records and Management plan. Tested revenue: 3,300 avg trucks × $55k + 38.5 avg hubs × $3.16M.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37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Value of Rakiza, discounted year by year, $M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2011680"/>
          <a:ext cx="65836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406640" y="1737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Is the ask fair? Same basis, pre-money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06640" y="2057400"/>
            <a:ext cx="42336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589520" y="2148840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$344M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869680" y="2148840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Our value, plan tested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Real hubs average 61%, not the ~70% the plan needs: $303M × 2.0 ÷ 1.762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06640" y="3172968"/>
            <a:ext cx="4233672" cy="987552"/>
          </a:xfrm>
          <a:prstGeom prst="rect">
            <a:avLst/>
          </a:prstGeom>
          <a:solidFill>
            <a:srgbClr val="191C1A"/>
          </a:solidFill>
          <a:ln w="12700">
            <a:solidFill>
              <a:srgbClr val="191C1A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7589520" y="3264408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C87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$410M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869680" y="3264408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Our value, management plan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C9CCC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$722M ÷ 1.762 = $409.7M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406640" y="4288536"/>
            <a:ext cx="42336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7589520" y="4379976"/>
            <a:ext cx="1234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453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$480M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869680" y="4379976"/>
            <a:ext cx="2633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Rakiza's ask, pre-money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$120M ÷ 20% = $600M post; − $120M. 17% above our $410M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solidFill>
            <a:srgbClr val="EEF4E9"/>
          </a:solidFill>
          <a:ln w="12700">
            <a:solidFill>
              <a:srgbClr val="EEF4E9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48640" y="5623560"/>
            <a:ext cx="45720" cy="548640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777240" y="562356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Not deducted: </a:t>
            </a:r>
            <a:r>
              <a:rPr lang="en-US" sz="120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the ~$767.5M the plan still needs (Q2). Q3 assumes funding is raised; Q4 prices that risk through terms.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  <a:latin typeface="Aptos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Q4 · INVESTMENT DECISION · 1 OF 3</a:t>
            </a:r>
            <a:endParaRPr lang="en-US" sz="10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Invest $120M in two stages, at our $410M value, not $480M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Own part of the shift away from diesel, but pay for proof, not promises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08792" y="384048"/>
            <a:ext cx="731520" cy="402336"/>
          </a:xfrm>
          <a:prstGeom prst="roundRect">
            <a:avLst>
              <a:gd name="adj" fmla="val 13636"/>
            </a:avLst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908792" y="3840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Source: Q3 analysis; Ex. 1, 3, 4, 7. $480M = pre-money behind the $600M ask. Return = stake × $722M Year-5 value ÷ $120M, over 5 years (our assumption), before later dilution. ~15% diesel share is our assumption (Ex. 1: "mid-teens").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394960" cy="1417320"/>
          </a:xfrm>
          <a:prstGeom prst="rect">
            <a:avLst/>
          </a:prstGeom>
          <a:solidFill>
            <a:srgbClr val="191C1A"/>
          </a:solidFill>
          <a:ln w="12700">
            <a:solidFill>
              <a:srgbClr val="191C1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18745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CC87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OUR RECOMMENDATION</a:t>
            </a:r>
            <a:endParaRPr lang="en-US" sz="105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Yes, on conditions</a:t>
            </a:r>
            <a:endParaRPr lang="en-US" sz="1050" dirty="0"/>
          </a:p>
          <a:p>
            <a:pPr indent="0" marL="0">
              <a:buNone/>
            </a:pPr>
            <a:r>
              <a:rPr lang="en-US" sz="1400" dirty="0">
                <a:solidFill>
                  <a:srgbClr val="E4E7E2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$60M now, $60M only on proof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58444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88720" y="3429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Why own it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~$300M of yearly diesel sales at risk, and Qafila is exposed twice: fuel and trucks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45720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68172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88720" y="4526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What we pay for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Rakiza's fleet, pilot hubs and head start, not the sites or fleets Qafila already has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35508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Qafila's yearly return at each price, %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263640" y="2011680"/>
          <a:ext cx="5440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6355080" y="53492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Dashed line: Qafila's 12% hurdle (Ex. 7)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5669280"/>
            <a:ext cx="11091672" cy="502920"/>
          </a:xfrm>
          <a:prstGeom prst="rect">
            <a:avLst/>
          </a:prstGeom>
          <a:solidFill>
            <a:srgbClr val="EEF4E9"/>
          </a:solidFill>
          <a:ln w="12700">
            <a:solidFill>
              <a:srgbClr val="EEF4E9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548640" y="5669280"/>
            <a:ext cx="45720" cy="502920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777240" y="5669280"/>
            <a:ext cx="10680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Only a ~29% stake earns the 12% hurdle. </a:t>
            </a: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We open there and walk away above $410M pre-money.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  <a:latin typeface="Aptos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Q4 · INVESTMENT DECISION · 2 OF 3 · OUR RECOMMENDATION</a:t>
            </a:r>
            <a:endParaRPr lang="en-US" sz="10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Pay $60M now and $60M only once the plan is proven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Price per share fixed at signing, so amount, price and stake always agree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08792" y="384048"/>
            <a:ext cx="731520" cy="402336"/>
          </a:xfrm>
          <a:prstGeom prst="roundRect">
            <a:avLst>
              <a:gd name="adj" fmla="val 13636"/>
            </a:avLst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908792" y="3840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*Our recommendation, not case facts: the $60M + $60M split and the 6- and 18-month windows. Stake = cumulative $ ÷ (pre-money + cumulative $). Opening: $290M pre; floor: $410M pre. Source: Ex. 5, 7; Q2 analysis; Q&amp;A Sessions 1, 3.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017520" cy="3108960"/>
          </a:xfrm>
          <a:prstGeom prst="rect">
            <a:avLst/>
          </a:prstGeom>
          <a:solidFill>
            <a:srgbClr val="191C1A"/>
          </a:solidFill>
          <a:ln w="12700">
            <a:solidFill>
              <a:srgbClr val="191C1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77240" y="1938528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CC87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STAGE 1 · AT SIGNING</a:t>
            </a:r>
            <a:endParaRPr lang="en-US" sz="11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$60M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E4E7E2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After diligence: cap table, balance sheet, lease terms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840480"/>
            <a:ext cx="25603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77240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CC87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STAKE AFTER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1605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2000" dirty="0"/>
          </a:p>
          <a:p>
            <a:pPr indent="0" marL="0">
              <a:buNone/>
            </a:pPr>
            <a:r>
              <a:rPr lang="en-US" sz="1050" dirty="0">
                <a:solidFill>
                  <a:srgbClr val="E4E7E2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opening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41605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12.8%</a:t>
            </a:r>
            <a:endParaRPr lang="en-US" sz="2000" dirty="0"/>
          </a:p>
          <a:p>
            <a:pPr indent="0" marL="0">
              <a:buNone/>
            </a:pPr>
            <a:r>
              <a:rPr lang="en-US" sz="1050" dirty="0">
                <a:solidFill>
                  <a:srgbClr val="E4E7E2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floor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675888" y="3154680"/>
            <a:ext cx="347472" cy="384048"/>
          </a:xfrm>
          <a:prstGeom prst="rightArrow">
            <a:avLst/>
          </a:prstGeom>
          <a:solidFill>
            <a:srgbClr val="A7ADA3"/>
          </a:solidFill>
          <a:ln w="12700">
            <a:solidFill>
              <a:srgbClr val="A7ADA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133088" y="1783080"/>
            <a:ext cx="43434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133088" y="1783080"/>
            <a:ext cx="4343400" cy="41148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343400" y="19385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THE GATE: ALL FOUR IN ~18 MONTHS*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2377440"/>
            <a:ext cx="347472" cy="347472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34340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28032" y="235000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Hubs ≥60% used for 6 months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43400" y="2990088"/>
            <a:ext cx="347472" cy="347472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434340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828032" y="296265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Contracts signed with other fleets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43400" y="3602736"/>
            <a:ext cx="347472" cy="347472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434340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828032" y="357530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Next-stage financing committed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343400" y="4215384"/>
            <a:ext cx="347472" cy="347472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4343400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828032" y="418795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Qualifying hub sites secured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586216" y="3154680"/>
            <a:ext cx="347472" cy="384048"/>
          </a:xfrm>
          <a:prstGeom prst="rightArrow">
            <a:avLst/>
          </a:prstGeom>
          <a:solidFill>
            <a:srgbClr val="A7ADA3"/>
          </a:solidFill>
          <a:ln w="12700">
            <a:solidFill>
              <a:srgbClr val="A7ADA3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043416" y="1783080"/>
            <a:ext cx="2596896" cy="3108960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9272016" y="1938528"/>
            <a:ext cx="2139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EBC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STAGE 2 · ON PROOF</a:t>
            </a:r>
            <a:endParaRPr lang="en-US" sz="11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$60M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E4E7E2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Same share price as Stage 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272016" y="3840480"/>
            <a:ext cx="2139696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9272016" y="393192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8EBC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STAKE AFTER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9272016" y="4160520"/>
            <a:ext cx="106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29.3%</a:t>
            </a:r>
            <a:endParaRPr lang="en-US" sz="2000" dirty="0"/>
          </a:p>
          <a:p>
            <a:pPr indent="0" marL="0">
              <a:buNone/>
            </a:pPr>
            <a:r>
              <a:rPr lang="en-US" sz="1050" dirty="0">
                <a:solidFill>
                  <a:srgbClr val="E4E7E2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opening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10341864" y="4160520"/>
            <a:ext cx="106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22.6%</a:t>
            </a:r>
            <a:endParaRPr lang="en-US" sz="2000" dirty="0"/>
          </a:p>
          <a:p>
            <a:pPr indent="0" marL="0">
              <a:buNone/>
            </a:pPr>
            <a:r>
              <a:rPr lang="en-US" sz="1050" dirty="0">
                <a:solidFill>
                  <a:srgbClr val="E4E7E2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floor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48640" y="5166360"/>
            <a:ext cx="11091672" cy="822960"/>
          </a:xfrm>
          <a:prstGeom prst="rect">
            <a:avLst/>
          </a:prstGeom>
          <a:solidFill>
            <a:srgbClr val="EEF4E9"/>
          </a:solidFill>
          <a:ln w="12700">
            <a:solidFill>
              <a:srgbClr val="EEF4E9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48640" y="5166360"/>
            <a:ext cx="45720" cy="822960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777240" y="5166360"/>
            <a:ext cx="10680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Protections: </a:t>
            </a: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board seat · veto on extra debt or equity · right to join every round · put or buy-back right · first call on Qafila sites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Downside: </a:t>
            </a: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if the gate is missed, Stage 2 is not paid and only $60M is at risk.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  <a:latin typeface="Aptos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Q4 · INVESTMENT DECISION · 3 OF 3</a:t>
            </a:r>
            <a:endParaRPr lang="en-US" sz="10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Every condition answers a risk the data exposes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56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Rakiza's "best economics" corridor, Dammam–Riyadh, has the weakest hub use: 41%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08792" y="384048"/>
            <a:ext cx="731520" cy="402336"/>
          </a:xfrm>
          <a:prstGeom prst="roundRect">
            <a:avLst>
              <a:gd name="adj" fmla="val 13636"/>
            </a:avLst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908792" y="3840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Source: Data room, Hub monthly records (20 hubs × 12 months; Rakiza pilots and comparable sites), Fleet invoices (20 trucks); Ex. 1, 4, 5, 6; Q2 analysis.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37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Average hub use by corridor, %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201168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760720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9154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Our condition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2057400"/>
            <a:ext cx="5879592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5760720" y="21305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Hubs below plan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61% average vs ~70% needed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915400" y="2130552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Stage 2 only after ≥60% for 6 months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60720" y="2734056"/>
            <a:ext cx="5879592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760720" y="28072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Too few outside customers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≥63% of charging must come from others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915400" y="2807208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Signed third-party contracts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760720" y="3410712"/>
            <a:ext cx="5879592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760720" y="34838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$767.5M funding gap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$120M is 13.5% of the plan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915400" y="3483864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Committed financing; follow-on rights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760720" y="4087368"/>
            <a:ext cx="5879592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5760720" y="4160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Trucks not yet cheaper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~120k km a year vs 140–170k needed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915400" y="416052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Proof of demand before Stage 2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760720" y="4764024"/>
            <a:ext cx="5879592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5760720" y="48371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Rivals and standards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Chinese maker, state-linked firm (Ex. 1)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915400" y="4837176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8E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Upgradeable chargers; site exclusivity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5669280"/>
            <a:ext cx="11091672" cy="502920"/>
          </a:xfrm>
          <a:prstGeom prst="rect">
            <a:avLst/>
          </a:prstGeom>
          <a:solidFill>
            <a:srgbClr val="EEF4E9"/>
          </a:solidFill>
          <a:ln w="12700">
            <a:solidFill>
              <a:srgbClr val="EEF4E9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548640" y="5669280"/>
            <a:ext cx="45720" cy="502920"/>
          </a:xfrm>
          <a:prstGeom prst="rect">
            <a:avLst/>
          </a:prstGeom>
          <a:solidFill>
            <a:srgbClr val="498E2B"/>
          </a:solidFill>
          <a:ln w="12700">
            <a:solidFill>
              <a:srgbClr val="498E2B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777240" y="5669280"/>
            <a:ext cx="10680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453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Fallback: </a:t>
            </a: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above $410M pre-money we walk away from equity and offer a commercial partnership instead.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C8C"/>
                </a:solidFill>
                <a:latin typeface="Aptos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Invest in the change, at our price, and pay for proof. Team ID: CC-####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F0DC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AI use: Claude (Anthropic) supported structuring and slide formatting; all analysis and figures were built and checked by the team.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rging the Long Haul">
  <a:themeElements>
    <a:clrScheme name="Charging the Long Haul">
      <a:dk1>
        <a:srgbClr val="191C1A"/>
      </a:dk1>
      <a:lt1>
        <a:srgbClr val="FFFFFF"/>
      </a:lt1>
      <a:dk2>
        <a:srgbClr val="2B2B2B"/>
      </a:dk2>
      <a:lt2>
        <a:srgbClr val="F6F7F4"/>
      </a:lt2>
      <a:accent1>
        <a:srgbClr val="498E2B"/>
      </a:accent1>
      <a:accent2>
        <a:srgbClr val="191C1A"/>
      </a:accent2>
      <a:accent3>
        <a:srgbClr val="A7ADA3"/>
      </a:accent3>
      <a:accent4>
        <a:srgbClr val="9CC87F"/>
      </a:accent4>
      <a:accent5>
        <a:srgbClr val="C8453B"/>
      </a:accent5>
      <a:accent6>
        <a:srgbClr val="8C8C8C"/>
      </a:accent6>
      <a:hlink>
        <a:srgbClr val="498E2B"/>
      </a:hlink>
      <a:folHlink>
        <a:srgbClr val="8C8C8C"/>
      </a:folHlink>
    </a:clrScheme>
    <a:fontScheme name="Charging the Long Hau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 1 - Charging the Long Haul</dc:title>
  <dc:subject>PptxGenJS Presentation</dc:subject>
  <dc:creator>PptxGenJS</dc:creator>
  <cp:lastModifiedBy>PptxGenJS</cp:lastModifiedBy>
  <cp:revision>1</cp:revision>
  <dcterms:created xsi:type="dcterms:W3CDTF">2026-10-12T18:44:10Z</dcterms:created>
  <dcterms:modified xsi:type="dcterms:W3CDTF">2026-10-12T18:44:10Z</dcterms:modified>
</cp:coreProperties>
</file>